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cfcafa7-a370-def0-52ee-71051140e483}">
          <p14:sldIdLst>
            <p14:sldId id="256"/>
            <p14:sldId id="257"/>
          </p14:sldIdLst>
        </p14:section>
        <p14:section name="The build" id="{cb94c94e-d402-0265-2069-325731a04b73}">
          <p14:sldIdLst>
            <p14:sldId id="258"/>
            <p14:sldId id="259"/>
            <p14:sldId id="260"/>
          </p14:sldIdLst>
        </p14:section>
        <p14:section name="Features" id="{f8068638-58c9-247e-c1f0-0332465c6e4b}">
          <p14:sldIdLst>
            <p14:sldId id="261"/>
            <p14:sldId id="262"/>
            <p14:sldId id="263"/>
            <p14:sldId id="264"/>
            <p14:sldId id="265"/>
          </p14:sldIdLst>
        </p14:section>
        <p14:section name="Wrap-up" id="{7fd8879f-4b65-a579-3e50-84803f3be2e7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262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C2620"/>
                </a:solidFill>
                <a:latin typeface="+mn-lt"/>
              </a:rPr>
              <a:t>Spending by category (sample month)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Spending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5D3A"/>
              </a:solidFill>
              <a:effectLst/>
            </c:spPr>
          </c:dPt>
          <c:dPt>
            <c:idx val="1"/>
            <c:bubble3D val="0"/>
            <c:spPr>
              <a:solidFill>
                <a:srgbClr val="A8763B"/>
              </a:solidFill>
              <a:effectLst/>
            </c:spPr>
          </c:dPt>
          <c:dPt>
            <c:idx val="2"/>
            <c:bubble3D val="0"/>
            <c:spPr>
              <a:solidFill>
                <a:srgbClr val="A0432D"/>
              </a:solidFill>
              <a:effectLst/>
            </c:spPr>
          </c:dPt>
          <c:dPt>
            <c:idx val="3"/>
            <c:bubble3D val="0"/>
            <c:spPr>
              <a:solidFill>
                <a:srgbClr val="3B6E8F"/>
              </a:solidFill>
              <a:effectLst/>
            </c:spPr>
          </c:dPt>
          <c:dPt>
            <c:idx val="4"/>
            <c:bubble3D val="0"/>
            <c:spPr>
              <a:solidFill>
                <a:srgbClr val="6B4C7A"/>
              </a:solidFill>
              <a:effectLst/>
            </c:spPr>
          </c:dPt>
          <c:dPt>
            <c:idx val="5"/>
            <c:bubble3D val="0"/>
            <c:spPr>
              <a:solidFill>
                <a:srgbClr val="4C7A6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Housing</c:v>
                </c:pt>
                <c:pt idx="1">
                  <c:v>Food</c:v>
                </c:pt>
                <c:pt idx="2">
                  <c:v>Utilities</c:v>
                </c:pt>
                <c:pt idx="3">
                  <c:v>Shopping</c:v>
                </c:pt>
                <c:pt idx="4">
                  <c:v>Transportation</c:v>
                </c:pt>
                <c:pt idx="5">
                  <c:v>Entertainment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15000</c:v>
                </c:pt>
                <c:pt idx="1">
                  <c:v>6000</c:v>
                </c:pt>
                <c:pt idx="2">
                  <c:v>3200</c:v>
                </c:pt>
                <c:pt idx="3">
                  <c:v>2800</c:v>
                </c:pt>
                <c:pt idx="4">
                  <c:v>2200</c:v>
                </c:pt>
                <c:pt idx="5">
                  <c:v>1500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C262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262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C2620"/>
                </a:solidFill>
                <a:latin typeface="+mn-lt"/>
              </a:rPr>
              <a:t>Spent vs. budget (sample month)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Spent</c:v>
                </c:pt>
              </c:strCache>
            </c:strRef>
          </c:tx>
          <c:spPr>
            <a:solidFill>
              <a:srgbClr val="2F5D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6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Housing</c:v>
                  </c:pt>
                  <c:pt idx="1">
                    <c:v>Food</c:v>
                  </c:pt>
                  <c:pt idx="2">
                    <c:v>Utilities</c:v>
                  </c:pt>
                  <c:pt idx="3">
                    <c:v>Shopping</c:v>
                  </c:pt>
                  <c:pt idx="4">
                    <c:v>Transportation</c:v>
                  </c:pt>
                  <c:pt idx="5">
                    <c:v>Entertainment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15000</c:v>
                </c:pt>
                <c:pt idx="1">
                  <c:v>6000</c:v>
                </c:pt>
                <c:pt idx="2">
                  <c:v>3200</c:v>
                </c:pt>
                <c:pt idx="3">
                  <c:v>2800</c:v>
                </c:pt>
                <c:pt idx="4">
                  <c:v>2200</c:v>
                </c:pt>
                <c:pt idx="5">
                  <c:v>1500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A876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6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Housing</c:v>
                  </c:pt>
                  <c:pt idx="1">
                    <c:v>Food</c:v>
                  </c:pt>
                  <c:pt idx="2">
                    <c:v>Utilities</c:v>
                  </c:pt>
                  <c:pt idx="3">
                    <c:v>Shopping</c:v>
                  </c:pt>
                  <c:pt idx="4">
                    <c:v>Transportation</c:v>
                  </c:pt>
                  <c:pt idx="5">
                    <c:v>Entertainment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16000</c:v>
                </c:pt>
                <c:pt idx="1">
                  <c:v>7000</c:v>
                </c:pt>
                <c:pt idx="2">
                  <c:v>3500</c:v>
                </c:pt>
                <c:pt idx="3">
                  <c:v>3000</c:v>
                </c:pt>
                <c:pt idx="4">
                  <c:v>3000</c:v>
                </c:pt>
                <c:pt idx="5">
                  <c:v>2000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C26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26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C262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Ledger: a budget planner that runs fully in the browser. Defaults to Indian rupees. We'll cover the problem, how it's built, each feature, real uses and what we'd do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Real-world framing: most people don't track spending until the month is over. Ledger makes logging quick and warns you before you overspend.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building blocks. Each one maps to a tab or page in the app: Transactions, Categories &amp; budgets, Savings goal, Reports, plus login/signup.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build step, no framework. Open index.html in a browser (or VS Code Live Server) and it runs. Only external request is Google Fonts.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this is a local demo login. There is no server, so it is fine for personal or learning use but not production security. We cover that on the last content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come from the sample month the app seeds on first run: income 45,000; rent 15,000, food 6,000, utilities 3,200, shopping 2,800, transport 2,200, movies 1,500 = 30,700 spent; 14,300 saved.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Category lists are arrays near the top of script.js, so they are easy to customise. The ledger can be filtered to all / income / expenses, and any entry can be deleted.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Chart uses the sample month. All six categories are under budget there; the Food example shows what triggers an alert.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example: saving for a laptop by a set date. Reports page is useful at month end to see the top spending category and compare with earlier months.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Indian number grouping puts the last three digits together, then pairs: 12,34,567. Western grouping is used for other currencies.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use cases we see for the app; ask the audience which one fits them. The example month is the app's built-in sample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Mirror the README: it's a great personal and learning project; real account security and multi-device sync need a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Offer a live demo: sign up, add a transaction, push Food over its cap to show the alert.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63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47548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4572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Ledger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Budget Planner — a web app to track income, expenses, budgets and savings goals</a:t>
            </a:r>
            <a:endParaRPr lang="en-US" sz="18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Project presentation</a:t>
            </a:r>
            <a:endParaRPr lang="en-US" sz="1400" dirty="0"/>
          </a:p>
        </p:txBody>
      </p:sp>
      <p:sp>
        <p:nvSpPr>
          <p:cNvPr id="5" name="circle-2"/>
          <p:cNvSpPr/>
          <p:nvPr/>
        </p:nvSpPr>
        <p:spPr>
          <a:xfrm>
            <a:off x="5577840" y="914400"/>
            <a:ext cx="3017520" cy="3017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circle-3"/>
          <p:cNvSpPr/>
          <p:nvPr/>
        </p:nvSpPr>
        <p:spPr>
          <a:xfrm>
            <a:off x="5212080" y="32918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-4"/>
          <p:cNvSpPr txBox="1"/>
          <p:nvPr/>
        </p:nvSpPr>
        <p:spPr>
          <a:xfrm>
            <a:off x="5577840" y="91440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₹</a:t>
            </a:r>
            <a:endParaRPr lang="en-US" sz="1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Why we built it</a:t>
            </a:r>
            <a:endParaRPr lang="en-US" sz="3200" dirty="0"/>
          </a:p>
        </p:txBody>
      </p:sp>
      <p:sp>
        <p:nvSpPr>
          <p:cNvPr id="3" name="card-5"/>
          <p:cNvSpPr/>
          <p:nvPr/>
        </p:nvSpPr>
        <p:spPr>
          <a:xfrm>
            <a:off x="457200" y="1188720"/>
            <a:ext cx="3977640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/>
        </p:spPr>
      </p:sp>
      <p:sp>
        <p:nvSpPr>
          <p:cNvPr id="4" name="circle-6"/>
          <p:cNvSpPr/>
          <p:nvPr/>
        </p:nvSpPr>
        <p:spPr>
          <a:xfrm>
            <a:off x="685800" y="13716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icon-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08760"/>
            <a:ext cx="274320" cy="274320"/>
          </a:xfrm>
          <a:prstGeom prst="rect">
            <a:avLst/>
          </a:prstGeom>
        </p:spPr>
      </p:pic>
      <p:sp>
        <p:nvSpPr>
          <p:cNvPr id="6" name="text-8"/>
          <p:cNvSpPr txBox="1"/>
          <p:nvPr/>
        </p:nvSpPr>
        <p:spPr>
          <a:xfrm>
            <a:off x="1417320" y="1371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The problem</a:t>
            </a:r>
            <a:endParaRPr lang="en-US" sz="2000" dirty="0"/>
          </a:p>
        </p:txBody>
      </p:sp>
      <p:sp>
        <p:nvSpPr>
          <p:cNvPr id="7" name="text-9"/>
          <p:cNvSpPr txBox="1"/>
          <p:nvPr/>
        </p:nvSpPr>
        <p:spPr>
          <a:xfrm>
            <a:off x="685800" y="210312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Spending is easy to forget and hard to total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Spreadsheets are slow to keep up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Overspending is noticed after the month ends</a:t>
            </a:r>
            <a:endParaRPr lang="en-US" sz="1400" dirty="0"/>
          </a:p>
        </p:txBody>
      </p:sp>
      <p:sp>
        <p:nvSpPr>
          <p:cNvPr id="8" name="card-10"/>
          <p:cNvSpPr/>
          <p:nvPr/>
        </p:nvSpPr>
        <p:spPr>
          <a:xfrm>
            <a:off x="4709160" y="1188720"/>
            <a:ext cx="3977640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/>
        </p:spPr>
      </p:sp>
      <p:sp>
        <p:nvSpPr>
          <p:cNvPr id="9" name="circle-11"/>
          <p:cNvSpPr/>
          <p:nvPr/>
        </p:nvSpPr>
        <p:spPr>
          <a:xfrm>
            <a:off x="493776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-1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508760"/>
            <a:ext cx="274320" cy="274320"/>
          </a:xfrm>
          <a:prstGeom prst="rect">
            <a:avLst/>
          </a:prstGeom>
        </p:spPr>
      </p:pic>
      <p:sp>
        <p:nvSpPr>
          <p:cNvPr id="11" name="text-13"/>
          <p:cNvSpPr txBox="1"/>
          <p:nvPr/>
        </p:nvSpPr>
        <p:spPr>
          <a:xfrm>
            <a:off x="5669280" y="1371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Our solution</a:t>
            </a:r>
            <a:endParaRPr lang="en-US" sz="2000" dirty="0"/>
          </a:p>
        </p:txBody>
      </p:sp>
      <p:sp>
        <p:nvSpPr>
          <p:cNvPr id="12" name="text-14"/>
          <p:cNvSpPr txBox="1"/>
          <p:nvPr/>
        </p:nvSpPr>
        <p:spPr>
          <a:xfrm>
            <a:off x="4937760" y="210312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place to log income and expenses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Category caps and alerts warn you early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Charts show where the money goes</a:t>
            </a:r>
            <a:endParaRPr lang="en-US" sz="1400" dirty="0"/>
          </a:p>
        </p:txBody>
      </p:sp>
      <p:sp>
        <p:nvSpPr>
          <p:cNvPr id="13" name="banner-15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/>
        </p:spPr>
      </p:sp>
      <p:sp>
        <p:nvSpPr>
          <p:cNvPr id="14" name="text-16"/>
          <p:cNvSpPr txBox="1"/>
          <p:nvPr/>
        </p:nvSpPr>
        <p:spPr>
          <a:xfrm>
            <a:off x="731520" y="3886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Objective: a simple budget planner that opens in any browser — no install, no server.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Ledger does</a:t>
            </a:r>
            <a:endParaRPr lang="en-US" sz="3200" dirty="0"/>
          </a:p>
        </p:txBody>
      </p:sp>
      <p:sp>
        <p:nvSpPr>
          <p:cNvPr id="3" name="card-17"/>
          <p:cNvSpPr/>
          <p:nvPr/>
        </p:nvSpPr>
        <p:spPr>
          <a:xfrm>
            <a:off x="457200" y="1188720"/>
            <a:ext cx="256032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4" name="circle-18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1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485900"/>
            <a:ext cx="228600" cy="228600"/>
          </a:xfrm>
          <a:prstGeom prst="rect">
            <a:avLst/>
          </a:prstGeom>
        </p:spPr>
      </p:pic>
      <p:sp>
        <p:nvSpPr>
          <p:cNvPr id="6" name="text-20"/>
          <p:cNvSpPr txBox="1"/>
          <p:nvPr/>
        </p:nvSpPr>
        <p:spPr>
          <a:xfrm>
            <a:off x="1234440" y="13716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Transactions</a:t>
            </a:r>
            <a:endParaRPr lang="en-US" sz="1600" dirty="0"/>
          </a:p>
        </p:txBody>
      </p:sp>
      <p:sp>
        <p:nvSpPr>
          <p:cNvPr id="7" name="text-21"/>
          <p:cNvSpPr txBox="1"/>
          <p:nvPr/>
        </p:nvSpPr>
        <p:spPr>
          <a:xfrm>
            <a:off x="640080" y="19659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Log every income or expense with category, date and note.</a:t>
            </a:r>
            <a:endParaRPr lang="en-US" sz="1400" dirty="0"/>
          </a:p>
        </p:txBody>
      </p:sp>
      <p:sp>
        <p:nvSpPr>
          <p:cNvPr id="8" name="card-22"/>
          <p:cNvSpPr/>
          <p:nvPr/>
        </p:nvSpPr>
        <p:spPr>
          <a:xfrm>
            <a:off x="3291840" y="1188720"/>
            <a:ext cx="256032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9" name="circle-23"/>
          <p:cNvSpPr/>
          <p:nvPr/>
        </p:nvSpPr>
        <p:spPr>
          <a:xfrm>
            <a:off x="3474720" y="13716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con-2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20" y="1485900"/>
            <a:ext cx="228600" cy="228600"/>
          </a:xfrm>
          <a:prstGeom prst="rect">
            <a:avLst/>
          </a:prstGeom>
        </p:spPr>
      </p:pic>
      <p:sp>
        <p:nvSpPr>
          <p:cNvPr id="11" name="text-25"/>
          <p:cNvSpPr txBox="1"/>
          <p:nvPr/>
        </p:nvSpPr>
        <p:spPr>
          <a:xfrm>
            <a:off x="4069080" y="13716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Budgets</a:t>
            </a:r>
            <a:endParaRPr lang="en-US" sz="1600" dirty="0"/>
          </a:p>
        </p:txBody>
      </p:sp>
      <p:sp>
        <p:nvSpPr>
          <p:cNvPr id="12" name="text-26"/>
          <p:cNvSpPr txBox="1"/>
          <p:nvPr/>
        </p:nvSpPr>
        <p:spPr>
          <a:xfrm>
            <a:off x="3474720" y="19659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Set a monthly cap for each of the 9 expense categories.</a:t>
            </a:r>
            <a:endParaRPr lang="en-US" sz="1400" dirty="0"/>
          </a:p>
        </p:txBody>
      </p:sp>
      <p:sp>
        <p:nvSpPr>
          <p:cNvPr id="13" name="card-27"/>
          <p:cNvSpPr/>
          <p:nvPr/>
        </p:nvSpPr>
        <p:spPr>
          <a:xfrm>
            <a:off x="6126480" y="1188720"/>
            <a:ext cx="256032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4" name="circle-28"/>
          <p:cNvSpPr/>
          <p:nvPr/>
        </p:nvSpPr>
        <p:spPr>
          <a:xfrm>
            <a:off x="6309360" y="137160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con-2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1485900"/>
            <a:ext cx="228600" cy="228600"/>
          </a:xfrm>
          <a:prstGeom prst="rect">
            <a:avLst/>
          </a:prstGeom>
        </p:spPr>
      </p:pic>
      <p:sp>
        <p:nvSpPr>
          <p:cNvPr id="16" name="text-30"/>
          <p:cNvSpPr txBox="1"/>
          <p:nvPr/>
        </p:nvSpPr>
        <p:spPr>
          <a:xfrm>
            <a:off x="6903720" y="13716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Alerts</a:t>
            </a:r>
            <a:endParaRPr lang="en-US" sz="1600" dirty="0"/>
          </a:p>
        </p:txBody>
      </p:sp>
      <p:sp>
        <p:nvSpPr>
          <p:cNvPr id="17" name="text-31"/>
          <p:cNvSpPr txBox="1"/>
          <p:nvPr/>
        </p:nvSpPr>
        <p:spPr>
          <a:xfrm>
            <a:off x="6309360" y="19659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banner flags any category that crosses its cap.</a:t>
            </a:r>
            <a:endParaRPr lang="en-US" sz="1400" dirty="0"/>
          </a:p>
        </p:txBody>
      </p:sp>
      <p:sp>
        <p:nvSpPr>
          <p:cNvPr id="18" name="card-32"/>
          <p:cNvSpPr/>
          <p:nvPr/>
        </p:nvSpPr>
        <p:spPr>
          <a:xfrm>
            <a:off x="457200" y="2971800"/>
            <a:ext cx="256032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9" name="circle-33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icon-3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268980"/>
            <a:ext cx="228600" cy="228600"/>
          </a:xfrm>
          <a:prstGeom prst="rect">
            <a:avLst/>
          </a:prstGeom>
        </p:spPr>
      </p:pic>
      <p:sp>
        <p:nvSpPr>
          <p:cNvPr id="21" name="text-35"/>
          <p:cNvSpPr txBox="1"/>
          <p:nvPr/>
        </p:nvSpPr>
        <p:spPr>
          <a:xfrm>
            <a:off x="1234440" y="31546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Savings goal</a:t>
            </a:r>
            <a:endParaRPr lang="en-US" sz="1600" dirty="0"/>
          </a:p>
        </p:txBody>
      </p:sp>
      <p:sp>
        <p:nvSpPr>
          <p:cNvPr id="22" name="text-36"/>
          <p:cNvSpPr txBox="1"/>
          <p:nvPr/>
        </p:nvSpPr>
        <p:spPr>
          <a:xfrm>
            <a:off x="640080" y="3749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Set a target amount and date; a ring shows progress.</a:t>
            </a:r>
            <a:endParaRPr lang="en-US" sz="1400" dirty="0"/>
          </a:p>
        </p:txBody>
      </p:sp>
      <p:sp>
        <p:nvSpPr>
          <p:cNvPr id="23" name="card-37"/>
          <p:cNvSpPr/>
          <p:nvPr/>
        </p:nvSpPr>
        <p:spPr>
          <a:xfrm>
            <a:off x="3291840" y="2971800"/>
            <a:ext cx="256032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24" name="circle-38"/>
          <p:cNvSpPr/>
          <p:nvPr/>
        </p:nvSpPr>
        <p:spPr>
          <a:xfrm>
            <a:off x="3474720" y="315468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5" name="icon-39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9020" y="3268980"/>
            <a:ext cx="228600" cy="228600"/>
          </a:xfrm>
          <a:prstGeom prst="rect">
            <a:avLst/>
          </a:prstGeom>
        </p:spPr>
      </p:pic>
      <p:sp>
        <p:nvSpPr>
          <p:cNvPr id="26" name="text-40"/>
          <p:cNvSpPr txBox="1"/>
          <p:nvPr/>
        </p:nvSpPr>
        <p:spPr>
          <a:xfrm>
            <a:off x="4069080" y="31546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Reports</a:t>
            </a:r>
            <a:endParaRPr lang="en-US" sz="1600" dirty="0"/>
          </a:p>
        </p:txBody>
      </p:sp>
      <p:sp>
        <p:nvSpPr>
          <p:cNvPr id="27" name="text-41"/>
          <p:cNvSpPr txBox="1"/>
          <p:nvPr/>
        </p:nvSpPr>
        <p:spPr>
          <a:xfrm>
            <a:off x="3474720" y="3749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Donut chart, 6-month trend and a category breakdown.</a:t>
            </a:r>
            <a:endParaRPr lang="en-US" sz="1400" dirty="0"/>
          </a:p>
        </p:txBody>
      </p:sp>
      <p:sp>
        <p:nvSpPr>
          <p:cNvPr id="28" name="card-42"/>
          <p:cNvSpPr/>
          <p:nvPr/>
        </p:nvSpPr>
        <p:spPr>
          <a:xfrm>
            <a:off x="6126480" y="2971800"/>
            <a:ext cx="256032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29" name="circle-43"/>
          <p:cNvSpPr/>
          <p:nvPr/>
        </p:nvSpPr>
        <p:spPr>
          <a:xfrm>
            <a:off x="6309360" y="315468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30" name="icon-4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3660" y="3268980"/>
            <a:ext cx="228600" cy="228600"/>
          </a:xfrm>
          <a:prstGeom prst="rect">
            <a:avLst/>
          </a:prstGeom>
        </p:spPr>
      </p:pic>
      <p:sp>
        <p:nvSpPr>
          <p:cNvPr id="31" name="text-45"/>
          <p:cNvSpPr txBox="1"/>
          <p:nvPr/>
        </p:nvSpPr>
        <p:spPr>
          <a:xfrm>
            <a:off x="6903720" y="31546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User accounts</a:t>
            </a:r>
            <a:endParaRPr lang="en-US" sz="1600" dirty="0"/>
          </a:p>
        </p:txBody>
      </p:sp>
      <p:sp>
        <p:nvSpPr>
          <p:cNvPr id="32" name="text-46"/>
          <p:cNvSpPr txBox="1"/>
          <p:nvPr/>
        </p:nvSpPr>
        <p:spPr>
          <a:xfrm>
            <a:off x="6309360" y="3749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Sign up and log in; each user's data stays separate.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Tech stack and project files</a:t>
            </a:r>
            <a:endParaRPr lang="en-US" sz="3200" dirty="0"/>
          </a:p>
        </p:txBody>
      </p:sp>
      <p:sp>
        <p:nvSpPr>
          <p:cNvPr id="3" name="circle-47"/>
          <p:cNvSpPr/>
          <p:nvPr/>
        </p:nvSpPr>
        <p:spPr>
          <a:xfrm>
            <a:off x="457200" y="123444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" name="icon-4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1394460"/>
            <a:ext cx="320040" cy="320040"/>
          </a:xfrm>
          <a:prstGeom prst="rect">
            <a:avLst/>
          </a:prstGeom>
        </p:spPr>
      </p:pic>
      <p:sp>
        <p:nvSpPr>
          <p:cNvPr id="5" name="text-49"/>
          <p:cNvSpPr txBox="1"/>
          <p:nvPr/>
        </p:nvSpPr>
        <p:spPr>
          <a:xfrm>
            <a:off x="1325880" y="1188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HTML5</a:t>
            </a:r>
            <a:endParaRPr lang="en-US" sz="1800" dirty="0"/>
          </a:p>
        </p:txBody>
      </p:sp>
      <p:sp>
        <p:nvSpPr>
          <p:cNvPr id="6" name="text-50"/>
          <p:cNvSpPr txBox="1"/>
          <p:nvPr/>
        </p:nvSpPr>
        <p:spPr>
          <a:xfrm>
            <a:off x="1325880" y="1554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Structure for the login, signup and planner pages.</a:t>
            </a:r>
            <a:endParaRPr lang="en-US" sz="1400" dirty="0"/>
          </a:p>
        </p:txBody>
      </p:sp>
      <p:sp>
        <p:nvSpPr>
          <p:cNvPr id="7" name="circle-51"/>
          <p:cNvSpPr/>
          <p:nvPr/>
        </p:nvSpPr>
        <p:spPr>
          <a:xfrm>
            <a:off x="457200" y="237744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8" name="icon-5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" y="2537460"/>
            <a:ext cx="320040" cy="320040"/>
          </a:xfrm>
          <a:prstGeom prst="rect">
            <a:avLst/>
          </a:prstGeom>
        </p:spPr>
      </p:pic>
      <p:sp>
        <p:nvSpPr>
          <p:cNvPr id="9" name="text-53"/>
          <p:cNvSpPr txBox="1"/>
          <p:nvPr/>
        </p:nvSpPr>
        <p:spPr>
          <a:xfrm>
            <a:off x="1325880" y="2331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CSS3</a:t>
            </a:r>
            <a:endParaRPr lang="en-US" sz="1800" dirty="0"/>
          </a:p>
        </p:txBody>
      </p:sp>
      <p:sp>
        <p:nvSpPr>
          <p:cNvPr id="10" name="text-54"/>
          <p:cNvSpPr txBox="1"/>
          <p:nvPr/>
        </p:nvSpPr>
        <p:spPr>
          <a:xfrm>
            <a:off x="1325880" y="2697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Ledger theme with light and dark mode; adapts to mobile.</a:t>
            </a:r>
            <a:endParaRPr lang="en-US" sz="1400" dirty="0"/>
          </a:p>
        </p:txBody>
      </p:sp>
      <p:sp>
        <p:nvSpPr>
          <p:cNvPr id="11" name="circle-55"/>
          <p:cNvSpPr/>
          <p:nvPr/>
        </p:nvSpPr>
        <p:spPr>
          <a:xfrm>
            <a:off x="457200" y="35204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con-5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3680460"/>
            <a:ext cx="320040" cy="320040"/>
          </a:xfrm>
          <a:prstGeom prst="rect">
            <a:avLst/>
          </a:prstGeom>
        </p:spPr>
      </p:pic>
      <p:sp>
        <p:nvSpPr>
          <p:cNvPr id="13" name="text-57"/>
          <p:cNvSpPr txBox="1"/>
          <p:nvPr/>
        </p:nvSpPr>
        <p:spPr>
          <a:xfrm>
            <a:off x="1325880" y="3474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JavaScript</a:t>
            </a:r>
            <a:endParaRPr lang="en-US" sz="1800" dirty="0"/>
          </a:p>
        </p:txBody>
      </p:sp>
      <p:sp>
        <p:nvSpPr>
          <p:cNvPr id="14" name="text-58"/>
          <p:cNvSpPr txBox="1"/>
          <p:nvPr/>
        </p:nvSpPr>
        <p:spPr>
          <a:xfrm>
            <a:off x="1325880" y="3840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app logic and SVG charts, with no external libraries.</a:t>
            </a:r>
            <a:endParaRPr lang="en-US" sz="1400" dirty="0"/>
          </a:p>
        </p:txBody>
      </p:sp>
      <p:sp>
        <p:nvSpPr>
          <p:cNvPr id="15" name="card-59"/>
          <p:cNvSpPr/>
          <p:nvPr/>
        </p:nvSpPr>
        <p:spPr>
          <a:xfrm>
            <a:off x="4572000" y="1188720"/>
            <a:ext cx="4114800" cy="338328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/>
        </p:spPr>
      </p:sp>
      <p:sp>
        <p:nvSpPr>
          <p:cNvPr id="16" name="text-60"/>
          <p:cNvSpPr txBox="1"/>
          <p:nvPr/>
        </p:nvSpPr>
        <p:spPr>
          <a:xfrm>
            <a:off x="480060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Project files</a:t>
            </a:r>
            <a:endParaRPr lang="en-US" sz="2000" dirty="0"/>
          </a:p>
        </p:txBody>
      </p:sp>
      <p:sp>
        <p:nvSpPr>
          <p:cNvPr id="17" name="text-61"/>
          <p:cNvSpPr txBox="1"/>
          <p:nvPr/>
        </p:nvSpPr>
        <p:spPr>
          <a:xfrm>
            <a:off x="4800600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login.html</a:t>
            </a:r>
            <a:endParaRPr lang="en-US" sz="1400" dirty="0"/>
          </a:p>
        </p:txBody>
      </p:sp>
      <p:sp>
        <p:nvSpPr>
          <p:cNvPr id="18" name="text-62"/>
          <p:cNvSpPr txBox="1"/>
          <p:nvPr/>
        </p:nvSpPr>
        <p:spPr>
          <a:xfrm>
            <a:off x="6400800" y="1828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Sign-in page</a:t>
            </a:r>
            <a:endParaRPr lang="en-US" sz="1400" dirty="0"/>
          </a:p>
        </p:txBody>
      </p:sp>
      <p:sp>
        <p:nvSpPr>
          <p:cNvPr id="19" name="text-63"/>
          <p:cNvSpPr txBox="1"/>
          <p:nvPr/>
        </p:nvSpPr>
        <p:spPr>
          <a:xfrm>
            <a:off x="4800600" y="2194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signup.html</a:t>
            </a:r>
            <a:endParaRPr lang="en-US" sz="1400" dirty="0"/>
          </a:p>
        </p:txBody>
      </p:sp>
      <p:sp>
        <p:nvSpPr>
          <p:cNvPr id="20" name="text-64"/>
          <p:cNvSpPr txBox="1"/>
          <p:nvPr/>
        </p:nvSpPr>
        <p:spPr>
          <a:xfrm>
            <a:off x="6400800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Create account</a:t>
            </a:r>
            <a:endParaRPr lang="en-US" sz="1400" dirty="0"/>
          </a:p>
        </p:txBody>
      </p:sp>
      <p:sp>
        <p:nvSpPr>
          <p:cNvPr id="21" name="text-65"/>
          <p:cNvSpPr txBox="1"/>
          <p:nvPr/>
        </p:nvSpPr>
        <p:spPr>
          <a:xfrm>
            <a:off x="4800600" y="256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400" dirty="0"/>
          </a:p>
        </p:txBody>
      </p:sp>
      <p:sp>
        <p:nvSpPr>
          <p:cNvPr id="22" name="text-66"/>
          <p:cNvSpPr txBox="1"/>
          <p:nvPr/>
        </p:nvSpPr>
        <p:spPr>
          <a:xfrm>
            <a:off x="6400800" y="2560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planner app</a:t>
            </a:r>
            <a:endParaRPr lang="en-US" sz="1400" dirty="0"/>
          </a:p>
        </p:txBody>
      </p:sp>
      <p:sp>
        <p:nvSpPr>
          <p:cNvPr id="23" name="text-67"/>
          <p:cNvSpPr txBox="1"/>
          <p:nvPr/>
        </p:nvSpPr>
        <p:spPr>
          <a:xfrm>
            <a:off x="4800600" y="2926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auth.js</a:t>
            </a:r>
            <a:endParaRPr lang="en-US" sz="1400" dirty="0"/>
          </a:p>
        </p:txBody>
      </p:sp>
      <p:sp>
        <p:nvSpPr>
          <p:cNvPr id="24" name="text-68"/>
          <p:cNvSpPr txBox="1"/>
          <p:nvPr/>
        </p:nvSpPr>
        <p:spPr>
          <a:xfrm>
            <a:off x="6400800" y="2926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Login and session</a:t>
            </a:r>
            <a:endParaRPr lang="en-US" sz="1400" dirty="0"/>
          </a:p>
        </p:txBody>
      </p:sp>
      <p:sp>
        <p:nvSpPr>
          <p:cNvPr id="25" name="text-69"/>
          <p:cNvSpPr txBox="1"/>
          <p:nvPr/>
        </p:nvSpPr>
        <p:spPr>
          <a:xfrm>
            <a:off x="4800600" y="3291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400" dirty="0"/>
          </a:p>
        </p:txBody>
      </p:sp>
      <p:sp>
        <p:nvSpPr>
          <p:cNvPr id="26" name="text-70"/>
          <p:cNvSpPr txBox="1"/>
          <p:nvPr/>
        </p:nvSpPr>
        <p:spPr>
          <a:xfrm>
            <a:off x="6400800" y="3291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Logic and charts</a:t>
            </a:r>
            <a:endParaRPr lang="en-US" sz="1400" dirty="0"/>
          </a:p>
        </p:txBody>
      </p:sp>
      <p:sp>
        <p:nvSpPr>
          <p:cNvPr id="27" name="text-71"/>
          <p:cNvSpPr txBox="1"/>
          <p:nvPr/>
        </p:nvSpPr>
        <p:spPr>
          <a:xfrm>
            <a:off x="4800600" y="3657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400" dirty="0"/>
          </a:p>
        </p:txBody>
      </p:sp>
      <p:sp>
        <p:nvSpPr>
          <p:cNvPr id="28" name="text-72"/>
          <p:cNvSpPr txBox="1"/>
          <p:nvPr/>
        </p:nvSpPr>
        <p:spPr>
          <a:xfrm>
            <a:off x="6400800" y="3657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Theme, dark mode</a:t>
            </a:r>
            <a:endParaRPr lang="en-US" sz="1400" dirty="0"/>
          </a:p>
        </p:txBody>
      </p:sp>
      <p:sp>
        <p:nvSpPr>
          <p:cNvPr id="29" name="text-73"/>
          <p:cNvSpPr txBox="1"/>
          <p:nvPr/>
        </p:nvSpPr>
        <p:spPr>
          <a:xfrm>
            <a:off x="4800600" y="4023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400" dirty="0"/>
          </a:p>
        </p:txBody>
      </p:sp>
      <p:sp>
        <p:nvSpPr>
          <p:cNvPr id="30" name="text-74"/>
          <p:cNvSpPr txBox="1"/>
          <p:nvPr/>
        </p:nvSpPr>
        <p:spPr>
          <a:xfrm>
            <a:off x="6400800" y="4023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Setup notes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How sign-up and login work</a:t>
            </a:r>
            <a:endParaRPr lang="en-US" sz="3200" dirty="0"/>
          </a:p>
        </p:txBody>
      </p:sp>
      <p:sp>
        <p:nvSpPr>
          <p:cNvPr id="3" name="card-75"/>
          <p:cNvSpPr/>
          <p:nvPr/>
        </p:nvSpPr>
        <p:spPr>
          <a:xfrm>
            <a:off x="457200" y="1188720"/>
            <a:ext cx="1828800" cy="19659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circle-76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7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497330"/>
            <a:ext cx="251460" cy="251460"/>
          </a:xfrm>
          <a:prstGeom prst="rect">
            <a:avLst/>
          </a:prstGeom>
        </p:spPr>
      </p:pic>
      <p:sp>
        <p:nvSpPr>
          <p:cNvPr id="6" name="text-78"/>
          <p:cNvSpPr txBox="1"/>
          <p:nvPr/>
        </p:nvSpPr>
        <p:spPr>
          <a:xfrm>
            <a:off x="1828800" y="137160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-79"/>
          <p:cNvSpPr txBox="1"/>
          <p:nvPr/>
        </p:nvSpPr>
        <p:spPr>
          <a:xfrm>
            <a:off x="640080" y="1965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Sign up</a:t>
            </a:r>
            <a:endParaRPr lang="en-US" sz="1600" dirty="0"/>
          </a:p>
        </p:txBody>
      </p:sp>
      <p:sp>
        <p:nvSpPr>
          <p:cNvPr id="8" name="text-80"/>
          <p:cNvSpPr txBox="1"/>
          <p:nvPr/>
        </p:nvSpPr>
        <p:spPr>
          <a:xfrm>
            <a:off x="640080" y="22860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Name, username and a password of 6+ characters.</a:t>
            </a:r>
            <a:endParaRPr lang="en-US" sz="1400" dirty="0"/>
          </a:p>
        </p:txBody>
      </p:sp>
      <p:sp>
        <p:nvSpPr>
          <p:cNvPr id="9" name="card-81"/>
          <p:cNvSpPr/>
          <p:nvPr/>
        </p:nvSpPr>
        <p:spPr>
          <a:xfrm>
            <a:off x="2590800" y="1188720"/>
            <a:ext cx="1828800" cy="19659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0" name="circle-82"/>
          <p:cNvSpPr/>
          <p:nvPr/>
        </p:nvSpPr>
        <p:spPr>
          <a:xfrm>
            <a:off x="277368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-8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410" y="1497330"/>
            <a:ext cx="251460" cy="251460"/>
          </a:xfrm>
          <a:prstGeom prst="rect">
            <a:avLst/>
          </a:prstGeom>
        </p:spPr>
      </p:pic>
      <p:sp>
        <p:nvSpPr>
          <p:cNvPr id="12" name="text-84"/>
          <p:cNvSpPr txBox="1"/>
          <p:nvPr/>
        </p:nvSpPr>
        <p:spPr>
          <a:xfrm>
            <a:off x="3962400" y="137160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-85"/>
          <p:cNvSpPr txBox="1"/>
          <p:nvPr/>
        </p:nvSpPr>
        <p:spPr>
          <a:xfrm>
            <a:off x="2773680" y="1965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Hash</a:t>
            </a:r>
            <a:endParaRPr lang="en-US" sz="1600" dirty="0"/>
          </a:p>
        </p:txBody>
      </p:sp>
      <p:sp>
        <p:nvSpPr>
          <p:cNvPr id="14" name="text-86"/>
          <p:cNvSpPr txBox="1"/>
          <p:nvPr/>
        </p:nvSpPr>
        <p:spPr>
          <a:xfrm>
            <a:off x="2773680" y="22860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Password is salted and hashed with SHA-256.</a:t>
            </a:r>
            <a:endParaRPr lang="en-US" sz="1400" dirty="0"/>
          </a:p>
        </p:txBody>
      </p:sp>
      <p:sp>
        <p:nvSpPr>
          <p:cNvPr id="15" name="card-87"/>
          <p:cNvSpPr/>
          <p:nvPr/>
        </p:nvSpPr>
        <p:spPr>
          <a:xfrm>
            <a:off x="4724400" y="1188720"/>
            <a:ext cx="1828800" cy="19659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6" name="circle-88"/>
          <p:cNvSpPr/>
          <p:nvPr/>
        </p:nvSpPr>
        <p:spPr>
          <a:xfrm>
            <a:off x="490728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-8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010" y="1497330"/>
            <a:ext cx="251460" cy="251460"/>
          </a:xfrm>
          <a:prstGeom prst="rect">
            <a:avLst/>
          </a:prstGeom>
        </p:spPr>
      </p:pic>
      <p:sp>
        <p:nvSpPr>
          <p:cNvPr id="18" name="text-90"/>
          <p:cNvSpPr txBox="1"/>
          <p:nvPr/>
        </p:nvSpPr>
        <p:spPr>
          <a:xfrm>
            <a:off x="6096000" y="137160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-91"/>
          <p:cNvSpPr txBox="1"/>
          <p:nvPr/>
        </p:nvSpPr>
        <p:spPr>
          <a:xfrm>
            <a:off x="4907280" y="1965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Store</a:t>
            </a:r>
            <a:endParaRPr lang="en-US" sz="1600" dirty="0"/>
          </a:p>
        </p:txBody>
      </p:sp>
      <p:sp>
        <p:nvSpPr>
          <p:cNvPr id="20" name="text-92"/>
          <p:cNvSpPr txBox="1"/>
          <p:nvPr/>
        </p:nvSpPr>
        <p:spPr>
          <a:xfrm>
            <a:off x="4907280" y="22860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Account saved in the browser's localStorage.</a:t>
            </a:r>
            <a:endParaRPr lang="en-US" sz="1400" dirty="0"/>
          </a:p>
        </p:txBody>
      </p:sp>
      <p:sp>
        <p:nvSpPr>
          <p:cNvPr id="21" name="card-93"/>
          <p:cNvSpPr/>
          <p:nvPr/>
        </p:nvSpPr>
        <p:spPr>
          <a:xfrm>
            <a:off x="6858000" y="1188720"/>
            <a:ext cx="1828800" cy="19659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2" name="circle-94"/>
          <p:cNvSpPr/>
          <p:nvPr/>
        </p:nvSpPr>
        <p:spPr>
          <a:xfrm>
            <a:off x="704088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con-9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6610" y="1497330"/>
            <a:ext cx="251460" cy="251460"/>
          </a:xfrm>
          <a:prstGeom prst="rect">
            <a:avLst/>
          </a:prstGeom>
        </p:spPr>
      </p:pic>
      <p:sp>
        <p:nvSpPr>
          <p:cNvPr id="24" name="text-96"/>
          <p:cNvSpPr txBox="1"/>
          <p:nvPr/>
        </p:nvSpPr>
        <p:spPr>
          <a:xfrm>
            <a:off x="8229600" y="137160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-97"/>
          <p:cNvSpPr txBox="1"/>
          <p:nvPr/>
        </p:nvSpPr>
        <p:spPr>
          <a:xfrm>
            <a:off x="7040880" y="1965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Session</a:t>
            </a:r>
            <a:endParaRPr lang="en-US" sz="1600" dirty="0"/>
          </a:p>
        </p:txBody>
      </p:sp>
      <p:sp>
        <p:nvSpPr>
          <p:cNvPr id="26" name="text-98"/>
          <p:cNvSpPr txBox="1"/>
          <p:nvPr/>
        </p:nvSpPr>
        <p:spPr>
          <a:xfrm>
            <a:off x="7040880" y="22860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You land in the planner; log out any time.</a:t>
            </a:r>
            <a:endParaRPr lang="en-US" sz="1400" dirty="0"/>
          </a:p>
        </p:txBody>
      </p:sp>
      <p:sp>
        <p:nvSpPr>
          <p:cNvPr id="27" name="card-99"/>
          <p:cNvSpPr/>
          <p:nvPr/>
        </p:nvSpPr>
        <p:spPr>
          <a:xfrm>
            <a:off x="457200" y="3383280"/>
            <a:ext cx="39776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28" name="text-100"/>
          <p:cNvSpPr txBox="1"/>
          <p:nvPr/>
        </p:nvSpPr>
        <p:spPr>
          <a:xfrm>
            <a:off x="685800" y="3520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Separate data per user</a:t>
            </a:r>
            <a:endParaRPr lang="en-US" sz="1600" dirty="0"/>
          </a:p>
        </p:txBody>
      </p:sp>
      <p:sp>
        <p:nvSpPr>
          <p:cNvPr id="29" name="text-101"/>
          <p:cNvSpPr txBox="1"/>
          <p:nvPr/>
        </p:nvSpPr>
        <p:spPr>
          <a:xfrm>
            <a:off x="685800" y="38404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account has its own storage key, so a shared laptop shows only your numbers.</a:t>
            </a:r>
            <a:endParaRPr lang="en-US" sz="1400" dirty="0"/>
          </a:p>
        </p:txBody>
      </p:sp>
      <p:sp>
        <p:nvSpPr>
          <p:cNvPr id="30" name="card-102"/>
          <p:cNvSpPr/>
          <p:nvPr/>
        </p:nvSpPr>
        <p:spPr>
          <a:xfrm>
            <a:off x="4709160" y="3383280"/>
            <a:ext cx="39776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31" name="text-103"/>
          <p:cNvSpPr txBox="1"/>
          <p:nvPr/>
        </p:nvSpPr>
        <p:spPr>
          <a:xfrm>
            <a:off x="4937760" y="3520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 guard on every page</a:t>
            </a:r>
            <a:endParaRPr lang="en-US" sz="1600" dirty="0"/>
          </a:p>
        </p:txBody>
      </p:sp>
      <p:sp>
        <p:nvSpPr>
          <p:cNvPr id="32" name="text-104"/>
          <p:cNvSpPr txBox="1"/>
          <p:nvPr/>
        </p:nvSpPr>
        <p:spPr>
          <a:xfrm>
            <a:off x="4937760" y="38404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planner redirects to login without a session; login skips ahead if you're already 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Dashboard: your month at a glance</a:t>
            </a:r>
            <a:endParaRPr lang="en-US" sz="3200" dirty="0"/>
          </a:p>
        </p:txBody>
      </p:sp>
      <p:sp>
        <p:nvSpPr>
          <p:cNvPr id="3" name="card-105"/>
          <p:cNvSpPr/>
          <p:nvPr/>
        </p:nvSpPr>
        <p:spPr>
          <a:xfrm>
            <a:off x="457200" y="1188720"/>
            <a:ext cx="365760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4" name="text-106"/>
          <p:cNvSpPr txBox="1"/>
          <p:nvPr/>
        </p:nvSpPr>
        <p:spPr>
          <a:xfrm>
            <a:off x="685800" y="1298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Income this month</a:t>
            </a:r>
            <a:endParaRPr lang="en-US" sz="1400" dirty="0"/>
          </a:p>
        </p:txBody>
      </p:sp>
      <p:sp>
        <p:nvSpPr>
          <p:cNvPr id="5" name="text-107"/>
          <p:cNvSpPr txBox="1"/>
          <p:nvPr/>
        </p:nvSpPr>
        <p:spPr>
          <a:xfrm>
            <a:off x="685800" y="15727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₹45,000</a:t>
            </a:r>
            <a:endParaRPr lang="en-US" sz="2800" dirty="0"/>
          </a:p>
        </p:txBody>
      </p:sp>
      <p:sp>
        <p:nvSpPr>
          <p:cNvPr id="6" name="card-108"/>
          <p:cNvSpPr/>
          <p:nvPr/>
        </p:nvSpPr>
        <p:spPr>
          <a:xfrm>
            <a:off x="457200" y="2377440"/>
            <a:ext cx="365760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7" name="text-109"/>
          <p:cNvSpPr txBox="1"/>
          <p:nvPr/>
        </p:nvSpPr>
        <p:spPr>
          <a:xfrm>
            <a:off x="685800" y="2487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Expenses this month</a:t>
            </a:r>
            <a:endParaRPr lang="en-US" sz="1400" dirty="0"/>
          </a:p>
        </p:txBody>
      </p:sp>
      <p:sp>
        <p:nvSpPr>
          <p:cNvPr id="8" name="text-110"/>
          <p:cNvSpPr txBox="1"/>
          <p:nvPr/>
        </p:nvSpPr>
        <p:spPr>
          <a:xfrm>
            <a:off x="685800" y="27614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₹30,700</a:t>
            </a:r>
            <a:endParaRPr lang="en-US" sz="2800" dirty="0"/>
          </a:p>
        </p:txBody>
      </p:sp>
      <p:sp>
        <p:nvSpPr>
          <p:cNvPr id="9" name="card-111"/>
          <p:cNvSpPr/>
          <p:nvPr/>
        </p:nvSpPr>
        <p:spPr>
          <a:xfrm>
            <a:off x="457200" y="3566160"/>
            <a:ext cx="365760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0" name="text-112"/>
          <p:cNvSpPr txBox="1"/>
          <p:nvPr/>
        </p:nvSpPr>
        <p:spPr>
          <a:xfrm>
            <a:off x="685800" y="3675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Net saved</a:t>
            </a:r>
            <a:endParaRPr lang="en-US" sz="1400" dirty="0"/>
          </a:p>
        </p:txBody>
      </p:sp>
      <p:sp>
        <p:nvSpPr>
          <p:cNvPr id="11" name="text-113"/>
          <p:cNvSpPr txBox="1"/>
          <p:nvPr/>
        </p:nvSpPr>
        <p:spPr>
          <a:xfrm>
            <a:off x="685800" y="39502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₹14,300</a:t>
            </a:r>
            <a:endParaRPr lang="en-US" sz="2800" dirty="0"/>
          </a:p>
        </p:txBody>
      </p:sp>
      <p:sp>
        <p:nvSpPr>
          <p:cNvPr id="12" name="text-114"/>
          <p:cNvSpPr txBox="1"/>
          <p:nvPr/>
        </p:nvSpPr>
        <p:spPr>
          <a:xfrm>
            <a:off x="2651760" y="395020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31.8% of income</a:t>
            </a:r>
            <a:endParaRPr lang="en-US" sz="14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389120" y="1188720"/>
          <a:ext cx="429768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-115"/>
          <p:cNvSpPr txBox="1"/>
          <p:nvPr/>
        </p:nvSpPr>
        <p:spPr>
          <a:xfrm>
            <a:off x="4389120" y="4297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Sample data that ships with the app. The dashboard also lists the latest 6 entries and a 6-month income vs. expenses trend.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Adding transactions and categories</a:t>
            </a:r>
            <a:endParaRPr lang="en-US" sz="3200" dirty="0"/>
          </a:p>
        </p:txBody>
      </p:sp>
      <p:sp>
        <p:nvSpPr>
          <p:cNvPr id="3" name="card-116"/>
          <p:cNvSpPr/>
          <p:nvPr/>
        </p:nvSpPr>
        <p:spPr>
          <a:xfrm>
            <a:off x="457200" y="1188720"/>
            <a:ext cx="3931920" cy="338328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/>
        </p:spPr>
      </p:sp>
      <p:sp>
        <p:nvSpPr>
          <p:cNvPr id="4" name="text-117"/>
          <p:cNvSpPr txBox="1"/>
          <p:nvPr/>
        </p:nvSpPr>
        <p:spPr>
          <a:xfrm>
            <a:off x="68580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Add a transaction</a:t>
            </a:r>
            <a:endParaRPr lang="en-US" sz="2000" dirty="0"/>
          </a:p>
        </p:txBody>
      </p:sp>
      <p:sp>
        <p:nvSpPr>
          <p:cNvPr id="5" name="text-118"/>
          <p:cNvSpPr txBox="1"/>
          <p:nvPr/>
        </p:nvSpPr>
        <p:spPr>
          <a:xfrm>
            <a:off x="685800" y="1828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Type</a:t>
            </a:r>
            <a:endParaRPr lang="en-US" sz="1400" dirty="0"/>
          </a:p>
        </p:txBody>
      </p:sp>
      <p:sp>
        <p:nvSpPr>
          <p:cNvPr id="6" name="text-119"/>
          <p:cNvSpPr txBox="1"/>
          <p:nvPr/>
        </p:nvSpPr>
        <p:spPr>
          <a:xfrm>
            <a:off x="1645920" y="18288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Income or expense</a:t>
            </a:r>
            <a:endParaRPr lang="en-US" sz="1400" dirty="0"/>
          </a:p>
        </p:txBody>
      </p:sp>
      <p:sp>
        <p:nvSpPr>
          <p:cNvPr id="7" name="text-120"/>
          <p:cNvSpPr txBox="1"/>
          <p:nvPr/>
        </p:nvSpPr>
        <p:spPr>
          <a:xfrm>
            <a:off x="685800" y="22128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Category</a:t>
            </a:r>
            <a:endParaRPr lang="en-US" sz="1400" dirty="0"/>
          </a:p>
        </p:txBody>
      </p:sp>
      <p:sp>
        <p:nvSpPr>
          <p:cNvPr id="8" name="text-121"/>
          <p:cNvSpPr txBox="1"/>
          <p:nvPr/>
        </p:nvSpPr>
        <p:spPr>
          <a:xfrm>
            <a:off x="1645920" y="22128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List changes with type</a:t>
            </a:r>
            <a:endParaRPr lang="en-US" sz="1400" dirty="0"/>
          </a:p>
        </p:txBody>
      </p:sp>
      <p:sp>
        <p:nvSpPr>
          <p:cNvPr id="9" name="text-122"/>
          <p:cNvSpPr txBox="1"/>
          <p:nvPr/>
        </p:nvSpPr>
        <p:spPr>
          <a:xfrm>
            <a:off x="685800" y="259689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Amount</a:t>
            </a:r>
            <a:endParaRPr lang="en-US" sz="1400" dirty="0"/>
          </a:p>
        </p:txBody>
      </p:sp>
      <p:sp>
        <p:nvSpPr>
          <p:cNvPr id="10" name="text-123"/>
          <p:cNvSpPr txBox="1"/>
          <p:nvPr/>
        </p:nvSpPr>
        <p:spPr>
          <a:xfrm>
            <a:off x="1645920" y="259689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Any value above zero</a:t>
            </a:r>
            <a:endParaRPr lang="en-US" sz="1400" dirty="0"/>
          </a:p>
        </p:txBody>
      </p:sp>
      <p:sp>
        <p:nvSpPr>
          <p:cNvPr id="11" name="text-124"/>
          <p:cNvSpPr txBox="1"/>
          <p:nvPr/>
        </p:nvSpPr>
        <p:spPr>
          <a:xfrm>
            <a:off x="685800" y="298094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Date</a:t>
            </a:r>
            <a:endParaRPr lang="en-US" sz="1400" dirty="0"/>
          </a:p>
        </p:txBody>
      </p:sp>
      <p:sp>
        <p:nvSpPr>
          <p:cNvPr id="12" name="text-125"/>
          <p:cNvSpPr txBox="1"/>
          <p:nvPr/>
        </p:nvSpPr>
        <p:spPr>
          <a:xfrm>
            <a:off x="1645920" y="298094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Pick from a calendar</a:t>
            </a:r>
            <a:endParaRPr lang="en-US" sz="1400" dirty="0"/>
          </a:p>
        </p:txBody>
      </p:sp>
      <p:sp>
        <p:nvSpPr>
          <p:cNvPr id="13" name="text-126"/>
          <p:cNvSpPr txBox="1"/>
          <p:nvPr/>
        </p:nvSpPr>
        <p:spPr>
          <a:xfrm>
            <a:off x="685800" y="33649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Note</a:t>
            </a:r>
            <a:endParaRPr lang="en-US" sz="1400" dirty="0"/>
          </a:p>
        </p:txBody>
      </p:sp>
      <p:sp>
        <p:nvSpPr>
          <p:cNvPr id="14" name="text-127"/>
          <p:cNvSpPr txBox="1"/>
          <p:nvPr/>
        </p:nvSpPr>
        <p:spPr>
          <a:xfrm>
            <a:off x="1645920" y="33649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Optional, up to 60 characters</a:t>
            </a:r>
            <a:endParaRPr lang="en-US" sz="1400" dirty="0"/>
          </a:p>
        </p:txBody>
      </p:sp>
      <p:sp>
        <p:nvSpPr>
          <p:cNvPr id="15" name="pill-128"/>
          <p:cNvSpPr/>
          <p:nvPr/>
        </p:nvSpPr>
        <p:spPr>
          <a:xfrm>
            <a:off x="685800" y="3931920"/>
            <a:ext cx="347472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16" name="text-129"/>
          <p:cNvSpPr txBox="1"/>
          <p:nvPr/>
        </p:nvSpPr>
        <p:spPr>
          <a:xfrm>
            <a:off x="685800" y="3931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Example: Expense · Food · ₹6,000 · Groceries</a:t>
            </a:r>
            <a:endParaRPr lang="en-US" sz="1400" dirty="0"/>
          </a:p>
        </p:txBody>
      </p:sp>
      <p:sp>
        <p:nvSpPr>
          <p:cNvPr id="17" name="text-130"/>
          <p:cNvSpPr txBox="1"/>
          <p:nvPr/>
        </p:nvSpPr>
        <p:spPr>
          <a:xfrm>
            <a:off x="4663440" y="1325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Categories</a:t>
            </a:r>
            <a:endParaRPr lang="en-US" sz="2000" dirty="0"/>
          </a:p>
        </p:txBody>
      </p:sp>
      <p:sp>
        <p:nvSpPr>
          <p:cNvPr id="18" name="text-131"/>
          <p:cNvSpPr txBox="1"/>
          <p:nvPr/>
        </p:nvSpPr>
        <p:spPr>
          <a:xfrm>
            <a:off x="4663440" y="1828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Expense (9)</a:t>
            </a:r>
            <a:endParaRPr lang="en-US" sz="1400" dirty="0"/>
          </a:p>
        </p:txBody>
      </p:sp>
      <p:sp>
        <p:nvSpPr>
          <p:cNvPr id="19" name="chip-132"/>
          <p:cNvSpPr/>
          <p:nvPr/>
        </p:nvSpPr>
        <p:spPr>
          <a:xfrm>
            <a:off x="4663440" y="2194560"/>
            <a:ext cx="908914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0" name="text-133"/>
          <p:cNvSpPr txBox="1"/>
          <p:nvPr/>
        </p:nvSpPr>
        <p:spPr>
          <a:xfrm>
            <a:off x="4663440" y="2194560"/>
            <a:ext cx="9089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Housing</a:t>
            </a:r>
            <a:endParaRPr lang="en-US" sz="1400" dirty="0"/>
          </a:p>
        </p:txBody>
      </p:sp>
      <p:sp>
        <p:nvSpPr>
          <p:cNvPr id="21" name="chip-134"/>
          <p:cNvSpPr/>
          <p:nvPr/>
        </p:nvSpPr>
        <p:spPr>
          <a:xfrm>
            <a:off x="5663794" y="2194560"/>
            <a:ext cx="656539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2" name="text-135"/>
          <p:cNvSpPr txBox="1"/>
          <p:nvPr/>
        </p:nvSpPr>
        <p:spPr>
          <a:xfrm>
            <a:off x="5663794" y="2194560"/>
            <a:ext cx="6565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Food</a:t>
            </a:r>
            <a:endParaRPr lang="en-US" sz="1400" dirty="0"/>
          </a:p>
        </p:txBody>
      </p:sp>
      <p:sp>
        <p:nvSpPr>
          <p:cNvPr id="23" name="chip-136"/>
          <p:cNvSpPr/>
          <p:nvPr/>
        </p:nvSpPr>
        <p:spPr>
          <a:xfrm>
            <a:off x="6411773" y="2194560"/>
            <a:ext cx="1497787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4" name="text-137"/>
          <p:cNvSpPr txBox="1"/>
          <p:nvPr/>
        </p:nvSpPr>
        <p:spPr>
          <a:xfrm>
            <a:off x="6411773" y="2194560"/>
            <a:ext cx="14977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Transportation</a:t>
            </a:r>
            <a:endParaRPr lang="en-US" sz="1400" dirty="0"/>
          </a:p>
        </p:txBody>
      </p:sp>
      <p:sp>
        <p:nvSpPr>
          <p:cNvPr id="25" name="chip-138"/>
          <p:cNvSpPr/>
          <p:nvPr/>
        </p:nvSpPr>
        <p:spPr>
          <a:xfrm>
            <a:off x="4663440" y="2606040"/>
            <a:ext cx="1077163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6" name="text-139"/>
          <p:cNvSpPr txBox="1"/>
          <p:nvPr/>
        </p:nvSpPr>
        <p:spPr>
          <a:xfrm>
            <a:off x="4663440" y="2606040"/>
            <a:ext cx="107716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Utilities</a:t>
            </a:r>
            <a:endParaRPr lang="en-US" sz="1400" dirty="0"/>
          </a:p>
        </p:txBody>
      </p:sp>
      <p:sp>
        <p:nvSpPr>
          <p:cNvPr id="27" name="chip-140"/>
          <p:cNvSpPr/>
          <p:nvPr/>
        </p:nvSpPr>
        <p:spPr>
          <a:xfrm>
            <a:off x="5832043" y="2606040"/>
            <a:ext cx="1161288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8" name="text-141"/>
          <p:cNvSpPr txBox="1"/>
          <p:nvPr/>
        </p:nvSpPr>
        <p:spPr>
          <a:xfrm>
            <a:off x="5832043" y="2606040"/>
            <a:ext cx="1161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Healthcare</a:t>
            </a:r>
            <a:endParaRPr lang="en-US" sz="1400" dirty="0"/>
          </a:p>
        </p:txBody>
      </p:sp>
      <p:sp>
        <p:nvSpPr>
          <p:cNvPr id="29" name="chip-142"/>
          <p:cNvSpPr/>
          <p:nvPr/>
        </p:nvSpPr>
        <p:spPr>
          <a:xfrm>
            <a:off x="7084771" y="2606040"/>
            <a:ext cx="1413662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0" name="text-143"/>
          <p:cNvSpPr txBox="1"/>
          <p:nvPr/>
        </p:nvSpPr>
        <p:spPr>
          <a:xfrm>
            <a:off x="7084771" y="2606040"/>
            <a:ext cx="14136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Entertainment</a:t>
            </a:r>
            <a:endParaRPr lang="en-US" sz="1400" dirty="0"/>
          </a:p>
        </p:txBody>
      </p:sp>
      <p:sp>
        <p:nvSpPr>
          <p:cNvPr id="31" name="chip-144"/>
          <p:cNvSpPr/>
          <p:nvPr/>
        </p:nvSpPr>
        <p:spPr>
          <a:xfrm>
            <a:off x="4663440" y="3017520"/>
            <a:ext cx="993038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2" name="text-145"/>
          <p:cNvSpPr txBox="1"/>
          <p:nvPr/>
        </p:nvSpPr>
        <p:spPr>
          <a:xfrm>
            <a:off x="4663440" y="3017520"/>
            <a:ext cx="9930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Shopping</a:t>
            </a:r>
            <a:endParaRPr lang="en-US" sz="1400" dirty="0"/>
          </a:p>
        </p:txBody>
      </p:sp>
      <p:sp>
        <p:nvSpPr>
          <p:cNvPr id="33" name="chip-146"/>
          <p:cNvSpPr/>
          <p:nvPr/>
        </p:nvSpPr>
        <p:spPr>
          <a:xfrm>
            <a:off x="5747918" y="3017520"/>
            <a:ext cx="656539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4" name="text-147"/>
          <p:cNvSpPr txBox="1"/>
          <p:nvPr/>
        </p:nvSpPr>
        <p:spPr>
          <a:xfrm>
            <a:off x="5747918" y="3017520"/>
            <a:ext cx="6565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Debt</a:t>
            </a:r>
            <a:endParaRPr lang="en-US" sz="1400" dirty="0"/>
          </a:p>
        </p:txBody>
      </p:sp>
      <p:sp>
        <p:nvSpPr>
          <p:cNvPr id="35" name="chip-148"/>
          <p:cNvSpPr/>
          <p:nvPr/>
        </p:nvSpPr>
        <p:spPr>
          <a:xfrm>
            <a:off x="6495898" y="3017520"/>
            <a:ext cx="740664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6" name="text-149"/>
          <p:cNvSpPr txBox="1"/>
          <p:nvPr/>
        </p:nvSpPr>
        <p:spPr>
          <a:xfrm>
            <a:off x="6495898" y="3017520"/>
            <a:ext cx="740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Other</a:t>
            </a:r>
            <a:endParaRPr lang="en-US" sz="1400" dirty="0"/>
          </a:p>
        </p:txBody>
      </p:sp>
      <p:sp>
        <p:nvSpPr>
          <p:cNvPr id="37" name="text-150"/>
          <p:cNvSpPr txBox="1"/>
          <p:nvPr/>
        </p:nvSpPr>
        <p:spPr>
          <a:xfrm>
            <a:off x="4663440" y="36210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Income (5)</a:t>
            </a:r>
            <a:endParaRPr lang="en-US" sz="1400" dirty="0"/>
          </a:p>
        </p:txBody>
      </p:sp>
      <p:sp>
        <p:nvSpPr>
          <p:cNvPr id="38" name="chip-151"/>
          <p:cNvSpPr/>
          <p:nvPr/>
        </p:nvSpPr>
        <p:spPr>
          <a:xfrm>
            <a:off x="4663440" y="3986784"/>
            <a:ext cx="824789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9" name="text-152"/>
          <p:cNvSpPr txBox="1"/>
          <p:nvPr/>
        </p:nvSpPr>
        <p:spPr>
          <a:xfrm>
            <a:off x="4663440" y="3986784"/>
            <a:ext cx="8247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Salary</a:t>
            </a:r>
            <a:endParaRPr lang="en-US" sz="1400" dirty="0"/>
          </a:p>
        </p:txBody>
      </p:sp>
      <p:sp>
        <p:nvSpPr>
          <p:cNvPr id="40" name="chip-153"/>
          <p:cNvSpPr/>
          <p:nvPr/>
        </p:nvSpPr>
        <p:spPr>
          <a:xfrm>
            <a:off x="5579669" y="3986784"/>
            <a:ext cx="1077163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1" name="text-154"/>
          <p:cNvSpPr txBox="1"/>
          <p:nvPr/>
        </p:nvSpPr>
        <p:spPr>
          <a:xfrm>
            <a:off x="5579669" y="3986784"/>
            <a:ext cx="107716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Freelance</a:t>
            </a:r>
            <a:endParaRPr lang="en-US" sz="1400" dirty="0"/>
          </a:p>
        </p:txBody>
      </p:sp>
      <p:sp>
        <p:nvSpPr>
          <p:cNvPr id="42" name="chip-155"/>
          <p:cNvSpPr/>
          <p:nvPr/>
        </p:nvSpPr>
        <p:spPr>
          <a:xfrm>
            <a:off x="6748272" y="3986784"/>
            <a:ext cx="1245413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3" name="text-156"/>
          <p:cNvSpPr txBox="1"/>
          <p:nvPr/>
        </p:nvSpPr>
        <p:spPr>
          <a:xfrm>
            <a:off x="6748272" y="3986784"/>
            <a:ext cx="12454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Investments</a:t>
            </a:r>
            <a:endParaRPr lang="en-US" sz="1400" dirty="0"/>
          </a:p>
        </p:txBody>
      </p:sp>
      <p:sp>
        <p:nvSpPr>
          <p:cNvPr id="44" name="chip-157"/>
          <p:cNvSpPr/>
          <p:nvPr/>
        </p:nvSpPr>
        <p:spPr>
          <a:xfrm>
            <a:off x="4663440" y="4398264"/>
            <a:ext cx="740664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5" name="text-158"/>
          <p:cNvSpPr txBox="1"/>
          <p:nvPr/>
        </p:nvSpPr>
        <p:spPr>
          <a:xfrm>
            <a:off x="4663440" y="4398264"/>
            <a:ext cx="740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Gifts</a:t>
            </a:r>
            <a:endParaRPr lang="en-US" sz="1400" dirty="0"/>
          </a:p>
        </p:txBody>
      </p:sp>
      <p:sp>
        <p:nvSpPr>
          <p:cNvPr id="46" name="chip-159"/>
          <p:cNvSpPr/>
          <p:nvPr/>
        </p:nvSpPr>
        <p:spPr>
          <a:xfrm>
            <a:off x="5495544" y="4398264"/>
            <a:ext cx="740664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7" name="text-160"/>
          <p:cNvSpPr txBox="1"/>
          <p:nvPr/>
        </p:nvSpPr>
        <p:spPr>
          <a:xfrm>
            <a:off x="5495544" y="4398264"/>
            <a:ext cx="740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Other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Budgets and overspending alerts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1206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-161"/>
          <p:cNvSpPr txBox="1"/>
          <p:nvPr/>
        </p:nvSpPr>
        <p:spPr>
          <a:xfrm>
            <a:off x="5852160" y="1188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Cap every category</a:t>
            </a:r>
            <a:endParaRPr lang="en-US" sz="1600" dirty="0"/>
          </a:p>
        </p:txBody>
      </p:sp>
      <p:sp>
        <p:nvSpPr>
          <p:cNvPr id="5" name="text-162"/>
          <p:cNvSpPr txBox="1"/>
          <p:nvPr/>
        </p:nvSpPr>
        <p:spPr>
          <a:xfrm>
            <a:off x="5852160" y="15544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Set a monthly limit per category and edit it right in the list.</a:t>
            </a:r>
            <a:endParaRPr lang="en-US" sz="1400" dirty="0"/>
          </a:p>
        </p:txBody>
      </p:sp>
      <p:sp>
        <p:nvSpPr>
          <p:cNvPr id="6" name="text-163"/>
          <p:cNvSpPr txBox="1"/>
          <p:nvPr/>
        </p:nvSpPr>
        <p:spPr>
          <a:xfrm>
            <a:off x="5852160" y="2331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Catch overspending</a:t>
            </a:r>
            <a:endParaRPr lang="en-US" sz="1600" dirty="0"/>
          </a:p>
        </p:txBody>
      </p:sp>
      <p:sp>
        <p:nvSpPr>
          <p:cNvPr id="7" name="text-164"/>
          <p:cNvSpPr txBox="1"/>
          <p:nvPr/>
        </p:nvSpPr>
        <p:spPr>
          <a:xfrm>
            <a:off x="5852160" y="26974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banner flags any category past its cap, biggest overshoot first.</a:t>
            </a:r>
            <a:endParaRPr lang="en-US" sz="1400" dirty="0"/>
          </a:p>
        </p:txBody>
      </p:sp>
      <p:sp>
        <p:nvSpPr>
          <p:cNvPr id="8" name="text-165"/>
          <p:cNvSpPr txBox="1"/>
          <p:nvPr/>
        </p:nvSpPr>
        <p:spPr>
          <a:xfrm>
            <a:off x="5852160" y="3474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Real example</a:t>
            </a:r>
            <a:endParaRPr lang="en-US" sz="1600" dirty="0"/>
          </a:p>
        </p:txBody>
      </p:sp>
      <p:sp>
        <p:nvSpPr>
          <p:cNvPr id="9" name="text-166"/>
          <p:cNvSpPr txBox="1"/>
          <p:nvPr/>
        </p:nvSpPr>
        <p:spPr>
          <a:xfrm>
            <a:off x="5852160" y="38404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Food cap ₹7,000, spent ₹7,500: flagged as ₹500 over.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Savings goal and reports</a:t>
            </a:r>
            <a:endParaRPr lang="en-US" sz="3200" dirty="0"/>
          </a:p>
        </p:txBody>
      </p:sp>
      <p:sp>
        <p:nvSpPr>
          <p:cNvPr id="3" name="card-167"/>
          <p:cNvSpPr/>
          <p:nvPr/>
        </p:nvSpPr>
        <p:spPr>
          <a:xfrm>
            <a:off x="457200" y="1188720"/>
            <a:ext cx="3977640" cy="338328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/>
        </p:spPr>
      </p:sp>
      <p:sp>
        <p:nvSpPr>
          <p:cNvPr id="4" name="circle-168"/>
          <p:cNvSpPr/>
          <p:nvPr/>
        </p:nvSpPr>
        <p:spPr>
          <a:xfrm>
            <a:off x="731520" y="141732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icon-16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00200"/>
            <a:ext cx="365760" cy="365760"/>
          </a:xfrm>
          <a:prstGeom prst="rect">
            <a:avLst/>
          </a:prstGeom>
        </p:spPr>
      </p:pic>
      <p:sp>
        <p:nvSpPr>
          <p:cNvPr id="6" name="text-170"/>
          <p:cNvSpPr txBox="1"/>
          <p:nvPr/>
        </p:nvSpPr>
        <p:spPr>
          <a:xfrm>
            <a:off x="1645920" y="14173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Savings goal</a:t>
            </a:r>
            <a:endParaRPr lang="en-US" sz="2200" dirty="0"/>
          </a:p>
        </p:txBody>
      </p:sp>
      <p:sp>
        <p:nvSpPr>
          <p:cNvPr id="7" name="text-171"/>
          <p:cNvSpPr txBox="1"/>
          <p:nvPr/>
        </p:nvSpPr>
        <p:spPr>
          <a:xfrm>
            <a:off x="731520" y="251460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Pick a target amount and date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ring shows progress at a glance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Measured against monthly savings</a:t>
            </a:r>
            <a:endParaRPr lang="en-US" sz="1600" dirty="0"/>
          </a:p>
        </p:txBody>
      </p:sp>
      <p:sp>
        <p:nvSpPr>
          <p:cNvPr id="8" name="card-172"/>
          <p:cNvSpPr/>
          <p:nvPr/>
        </p:nvSpPr>
        <p:spPr>
          <a:xfrm>
            <a:off x="4709160" y="1188720"/>
            <a:ext cx="3977640" cy="338328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/>
        </p:spPr>
      </p:sp>
      <p:sp>
        <p:nvSpPr>
          <p:cNvPr id="9" name="circle-173"/>
          <p:cNvSpPr/>
          <p:nvPr/>
        </p:nvSpPr>
        <p:spPr>
          <a:xfrm>
            <a:off x="4983480" y="141732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0" name="icon-17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600200"/>
            <a:ext cx="365760" cy="365760"/>
          </a:xfrm>
          <a:prstGeom prst="rect">
            <a:avLst/>
          </a:prstGeom>
        </p:spPr>
      </p:pic>
      <p:sp>
        <p:nvSpPr>
          <p:cNvPr id="11" name="text-175"/>
          <p:cNvSpPr txBox="1"/>
          <p:nvPr/>
        </p:nvSpPr>
        <p:spPr>
          <a:xfrm>
            <a:off x="5897880" y="14173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Reports</a:t>
            </a:r>
            <a:endParaRPr lang="en-US" sz="2200" dirty="0"/>
          </a:p>
        </p:txBody>
      </p:sp>
      <p:sp>
        <p:nvSpPr>
          <p:cNvPr id="12" name="text-176"/>
          <p:cNvSpPr txBox="1"/>
          <p:nvPr/>
        </p:nvSpPr>
        <p:spPr>
          <a:xfrm>
            <a:off x="4983480" y="251460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Plain-language monthly summary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Spent, budget and share per category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Browse any month with ‹ › arrows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6-month income vs. expenses trend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Built for everyday use</a:t>
            </a:r>
            <a:endParaRPr lang="en-US" sz="3200" dirty="0"/>
          </a:p>
        </p:txBody>
      </p:sp>
      <p:sp>
        <p:nvSpPr>
          <p:cNvPr id="3" name="card-177"/>
          <p:cNvSpPr/>
          <p:nvPr/>
        </p:nvSpPr>
        <p:spPr>
          <a:xfrm>
            <a:off x="457200" y="1188720"/>
            <a:ext cx="397764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4" name="circle-178"/>
          <p:cNvSpPr/>
          <p:nvPr/>
        </p:nvSpPr>
        <p:spPr>
          <a:xfrm>
            <a:off x="685800" y="14173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17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1565910"/>
            <a:ext cx="297180" cy="297180"/>
          </a:xfrm>
          <a:prstGeom prst="rect">
            <a:avLst/>
          </a:prstGeom>
        </p:spPr>
      </p:pic>
      <p:sp>
        <p:nvSpPr>
          <p:cNvPr id="6" name="text-180"/>
          <p:cNvSpPr txBox="1"/>
          <p:nvPr/>
        </p:nvSpPr>
        <p:spPr>
          <a:xfrm>
            <a:off x="150876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Rupee first</a:t>
            </a:r>
            <a:endParaRPr lang="en-US" sz="1800" dirty="0"/>
          </a:p>
        </p:txBody>
      </p:sp>
      <p:sp>
        <p:nvSpPr>
          <p:cNvPr id="7" name="text-181"/>
          <p:cNvSpPr txBox="1"/>
          <p:nvPr/>
        </p:nvSpPr>
        <p:spPr>
          <a:xfrm>
            <a:off x="1508760" y="18745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Defaults to ₹ with Indian grouping (₹1,00,000). Switch to USD, EUR, GBP or JPY.</a:t>
            </a:r>
            <a:endParaRPr lang="en-US" sz="1400" dirty="0"/>
          </a:p>
        </p:txBody>
      </p:sp>
      <p:sp>
        <p:nvSpPr>
          <p:cNvPr id="8" name="card-182"/>
          <p:cNvSpPr/>
          <p:nvPr/>
        </p:nvSpPr>
        <p:spPr>
          <a:xfrm>
            <a:off x="4709160" y="1188720"/>
            <a:ext cx="397764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9" name="circle-183"/>
          <p:cNvSpPr/>
          <p:nvPr/>
        </p:nvSpPr>
        <p:spPr>
          <a:xfrm>
            <a:off x="4937760" y="1417320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0" name="icon-18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1565910"/>
            <a:ext cx="297180" cy="297180"/>
          </a:xfrm>
          <a:prstGeom prst="rect">
            <a:avLst/>
          </a:prstGeom>
        </p:spPr>
      </p:pic>
      <p:sp>
        <p:nvSpPr>
          <p:cNvPr id="11" name="text-185"/>
          <p:cNvSpPr txBox="1"/>
          <p:nvPr/>
        </p:nvSpPr>
        <p:spPr>
          <a:xfrm>
            <a:off x="576072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Light and dark</a:t>
            </a:r>
            <a:endParaRPr lang="en-US" sz="1800" dirty="0"/>
          </a:p>
        </p:txBody>
      </p:sp>
      <p:sp>
        <p:nvSpPr>
          <p:cNvPr id="12" name="text-186"/>
          <p:cNvSpPr txBox="1"/>
          <p:nvPr/>
        </p:nvSpPr>
        <p:spPr>
          <a:xfrm>
            <a:off x="5760720" y="18745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Auto follows your device, or choose light or dark manually.</a:t>
            </a:r>
            <a:endParaRPr lang="en-US" sz="1400" dirty="0"/>
          </a:p>
        </p:txBody>
      </p:sp>
      <p:sp>
        <p:nvSpPr>
          <p:cNvPr id="13" name="card-187"/>
          <p:cNvSpPr/>
          <p:nvPr/>
        </p:nvSpPr>
        <p:spPr>
          <a:xfrm>
            <a:off x="457200" y="2971800"/>
            <a:ext cx="397764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4" name="circle-188"/>
          <p:cNvSpPr/>
          <p:nvPr/>
        </p:nvSpPr>
        <p:spPr>
          <a:xfrm>
            <a:off x="685800" y="320040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icon-18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3348990"/>
            <a:ext cx="297180" cy="297180"/>
          </a:xfrm>
          <a:prstGeom prst="rect">
            <a:avLst/>
          </a:prstGeom>
        </p:spPr>
      </p:pic>
      <p:sp>
        <p:nvSpPr>
          <p:cNvPr id="16" name="text-190"/>
          <p:cNvSpPr txBox="1"/>
          <p:nvPr/>
        </p:nvSpPr>
        <p:spPr>
          <a:xfrm>
            <a:off x="150876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Works on mobile</a:t>
            </a:r>
            <a:endParaRPr lang="en-US" sz="1800" dirty="0"/>
          </a:p>
        </p:txBody>
      </p:sp>
      <p:sp>
        <p:nvSpPr>
          <p:cNvPr id="17" name="text-191"/>
          <p:cNvSpPr txBox="1"/>
          <p:nvPr/>
        </p:nvSpPr>
        <p:spPr>
          <a:xfrm>
            <a:off x="1508760" y="3657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sidebar turns into a tab bar on small screens.</a:t>
            </a:r>
            <a:endParaRPr lang="en-US" sz="1400" dirty="0"/>
          </a:p>
        </p:txBody>
      </p:sp>
      <p:sp>
        <p:nvSpPr>
          <p:cNvPr id="18" name="card-192"/>
          <p:cNvSpPr/>
          <p:nvPr/>
        </p:nvSpPr>
        <p:spPr>
          <a:xfrm>
            <a:off x="4709160" y="2971800"/>
            <a:ext cx="397764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9" name="circle-193"/>
          <p:cNvSpPr/>
          <p:nvPr/>
        </p:nvSpPr>
        <p:spPr>
          <a:xfrm>
            <a:off x="4937760" y="320040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icon-19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350" y="3348990"/>
            <a:ext cx="297180" cy="297180"/>
          </a:xfrm>
          <a:prstGeom prst="rect">
            <a:avLst/>
          </a:prstGeom>
        </p:spPr>
      </p:pic>
      <p:sp>
        <p:nvSpPr>
          <p:cNvPr id="21" name="text-195"/>
          <p:cNvSpPr txBox="1"/>
          <p:nvPr/>
        </p:nvSpPr>
        <p:spPr>
          <a:xfrm>
            <a:off x="576072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Private by design</a:t>
            </a:r>
            <a:endParaRPr lang="en-US" sz="1800" dirty="0"/>
          </a:p>
        </p:txBody>
      </p:sp>
      <p:sp>
        <p:nvSpPr>
          <p:cNvPr id="22" name="text-196"/>
          <p:cNvSpPr txBox="1"/>
          <p:nvPr/>
        </p:nvSpPr>
        <p:spPr>
          <a:xfrm>
            <a:off x="5760720" y="3657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Everything stays in your browser; nothing goes to a server.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Where it can be used</a:t>
            </a:r>
            <a:endParaRPr lang="en-US" sz="3200" dirty="0"/>
          </a:p>
        </p:txBody>
      </p:sp>
      <p:sp>
        <p:nvSpPr>
          <p:cNvPr id="3" name="card-197"/>
          <p:cNvSpPr/>
          <p:nvPr/>
        </p:nvSpPr>
        <p:spPr>
          <a:xfrm>
            <a:off x="457200" y="1188720"/>
            <a:ext cx="1920240" cy="26974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4" name="circle-198"/>
          <p:cNvSpPr/>
          <p:nvPr/>
        </p:nvSpPr>
        <p:spPr>
          <a:xfrm>
            <a:off x="68580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19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08760"/>
            <a:ext cx="274320" cy="274320"/>
          </a:xfrm>
          <a:prstGeom prst="rect">
            <a:avLst/>
          </a:prstGeom>
        </p:spPr>
      </p:pic>
      <p:sp>
        <p:nvSpPr>
          <p:cNvPr id="6" name="text-200"/>
          <p:cNvSpPr txBox="1"/>
          <p:nvPr/>
        </p:nvSpPr>
        <p:spPr>
          <a:xfrm>
            <a:off x="68580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Students</a:t>
            </a:r>
            <a:endParaRPr lang="en-US" sz="1600" dirty="0"/>
          </a:p>
        </p:txBody>
      </p:sp>
      <p:sp>
        <p:nvSpPr>
          <p:cNvPr id="7" name="text-201"/>
          <p:cNvSpPr txBox="1"/>
          <p:nvPr/>
        </p:nvSpPr>
        <p:spPr>
          <a:xfrm>
            <a:off x="685800" y="242316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Track pocket money or a stipend and cap Food and Entertainment.</a:t>
            </a:r>
            <a:endParaRPr lang="en-US" sz="1400" dirty="0"/>
          </a:p>
        </p:txBody>
      </p:sp>
      <p:sp>
        <p:nvSpPr>
          <p:cNvPr id="8" name="card-202"/>
          <p:cNvSpPr/>
          <p:nvPr/>
        </p:nvSpPr>
        <p:spPr>
          <a:xfrm>
            <a:off x="2560320" y="1188720"/>
            <a:ext cx="1920240" cy="26974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9" name="circle-203"/>
          <p:cNvSpPr/>
          <p:nvPr/>
        </p:nvSpPr>
        <p:spPr>
          <a:xfrm>
            <a:off x="2788920" y="13716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con-20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1508760"/>
            <a:ext cx="274320" cy="274320"/>
          </a:xfrm>
          <a:prstGeom prst="rect">
            <a:avLst/>
          </a:prstGeom>
        </p:spPr>
      </p:pic>
      <p:sp>
        <p:nvSpPr>
          <p:cNvPr id="11" name="text-205"/>
          <p:cNvSpPr txBox="1"/>
          <p:nvPr/>
        </p:nvSpPr>
        <p:spPr>
          <a:xfrm>
            <a:off x="278892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Families</a:t>
            </a:r>
            <a:endParaRPr lang="en-US" sz="1600" dirty="0"/>
          </a:p>
        </p:txBody>
      </p:sp>
      <p:sp>
        <p:nvSpPr>
          <p:cNvPr id="12" name="text-206"/>
          <p:cNvSpPr txBox="1"/>
          <p:nvPr/>
        </p:nvSpPr>
        <p:spPr>
          <a:xfrm>
            <a:off x="2788920" y="242316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member gets a separate account on a shared device.</a:t>
            </a:r>
            <a:endParaRPr lang="en-US" sz="1400" dirty="0"/>
          </a:p>
        </p:txBody>
      </p:sp>
      <p:sp>
        <p:nvSpPr>
          <p:cNvPr id="13" name="card-207"/>
          <p:cNvSpPr/>
          <p:nvPr/>
        </p:nvSpPr>
        <p:spPr>
          <a:xfrm>
            <a:off x="4663440" y="1188720"/>
            <a:ext cx="1920240" cy="26974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4" name="circle-208"/>
          <p:cNvSpPr/>
          <p:nvPr/>
        </p:nvSpPr>
        <p:spPr>
          <a:xfrm>
            <a:off x="4892040" y="137160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icon-20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508760"/>
            <a:ext cx="274320" cy="274320"/>
          </a:xfrm>
          <a:prstGeom prst="rect">
            <a:avLst/>
          </a:prstGeom>
        </p:spPr>
      </p:pic>
      <p:sp>
        <p:nvSpPr>
          <p:cNvPr id="16" name="text-210"/>
          <p:cNvSpPr txBox="1"/>
          <p:nvPr/>
        </p:nvSpPr>
        <p:spPr>
          <a:xfrm>
            <a:off x="489204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Freelancers</a:t>
            </a:r>
            <a:endParaRPr lang="en-US" sz="1600" dirty="0"/>
          </a:p>
        </p:txBody>
      </p:sp>
      <p:sp>
        <p:nvSpPr>
          <p:cNvPr id="17" name="text-211"/>
          <p:cNvSpPr txBox="1"/>
          <p:nvPr/>
        </p:nvSpPr>
        <p:spPr>
          <a:xfrm>
            <a:off x="4892040" y="242316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Log irregular income and see the monthly net.</a:t>
            </a:r>
            <a:endParaRPr lang="en-US" sz="1400" dirty="0"/>
          </a:p>
        </p:txBody>
      </p:sp>
      <p:sp>
        <p:nvSpPr>
          <p:cNvPr id="18" name="card-212"/>
          <p:cNvSpPr/>
          <p:nvPr/>
        </p:nvSpPr>
        <p:spPr>
          <a:xfrm>
            <a:off x="6766560" y="1188720"/>
            <a:ext cx="1920240" cy="26974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9" name="circle-213"/>
          <p:cNvSpPr/>
          <p:nvPr/>
        </p:nvSpPr>
        <p:spPr>
          <a:xfrm>
            <a:off x="6995160" y="137160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0" name="icon-21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508760"/>
            <a:ext cx="274320" cy="274320"/>
          </a:xfrm>
          <a:prstGeom prst="rect">
            <a:avLst/>
          </a:prstGeom>
        </p:spPr>
      </p:pic>
      <p:sp>
        <p:nvSpPr>
          <p:cNvPr id="21" name="text-215"/>
          <p:cNvSpPr txBox="1"/>
          <p:nvPr/>
        </p:nvSpPr>
        <p:spPr>
          <a:xfrm>
            <a:off x="699516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Goal savers</a:t>
            </a:r>
            <a:endParaRPr lang="en-US" sz="1600" dirty="0"/>
          </a:p>
        </p:txBody>
      </p:sp>
      <p:sp>
        <p:nvSpPr>
          <p:cNvPr id="22" name="text-216"/>
          <p:cNvSpPr txBox="1"/>
          <p:nvPr/>
        </p:nvSpPr>
        <p:spPr>
          <a:xfrm>
            <a:off x="6995160" y="242316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Save for a laptop or trip and watch monthly progress.</a:t>
            </a:r>
            <a:endParaRPr lang="en-US" sz="1400" dirty="0"/>
          </a:p>
        </p:txBody>
      </p:sp>
      <p:sp>
        <p:nvSpPr>
          <p:cNvPr id="23" name="banner-217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24" name="text-218"/>
          <p:cNvSpPr txBox="1"/>
          <p:nvPr/>
        </p:nvSpPr>
        <p:spPr>
          <a:xfrm>
            <a:off x="731520" y="4069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Example month: ₹45,000 in, ₹30,700 out, so ₹14,300 saved (31.8%).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Limits and next steps</a:t>
            </a:r>
            <a:endParaRPr lang="en-US" sz="3200" dirty="0"/>
          </a:p>
        </p:txBody>
      </p:sp>
      <p:sp>
        <p:nvSpPr>
          <p:cNvPr id="3" name="card-219"/>
          <p:cNvSpPr/>
          <p:nvPr/>
        </p:nvSpPr>
        <p:spPr>
          <a:xfrm>
            <a:off x="457200" y="1188720"/>
            <a:ext cx="3977640" cy="338328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/>
        </p:spPr>
      </p:sp>
      <p:sp>
        <p:nvSpPr>
          <p:cNvPr id="4" name="circle-220"/>
          <p:cNvSpPr/>
          <p:nvPr/>
        </p:nvSpPr>
        <p:spPr>
          <a:xfrm>
            <a:off x="685800" y="13716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icon-22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08760"/>
            <a:ext cx="274320" cy="274320"/>
          </a:xfrm>
          <a:prstGeom prst="rect">
            <a:avLst/>
          </a:prstGeom>
        </p:spPr>
      </p:pic>
      <p:sp>
        <p:nvSpPr>
          <p:cNvPr id="6" name="text-222"/>
          <p:cNvSpPr txBox="1"/>
          <p:nvPr/>
        </p:nvSpPr>
        <p:spPr>
          <a:xfrm>
            <a:off x="1417320" y="1371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Current limits</a:t>
            </a:r>
            <a:endParaRPr lang="en-US" sz="2000" dirty="0"/>
          </a:p>
        </p:txBody>
      </p:sp>
      <p:sp>
        <p:nvSpPr>
          <p:cNvPr id="7" name="text-223"/>
          <p:cNvSpPr txBox="1"/>
          <p:nvPr/>
        </p:nvSpPr>
        <p:spPr>
          <a:xfrm>
            <a:off x="685800" y="210312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Data lives in one browser's localStorage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sync across devices or browsers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Login is a local demo, not production security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file:// and a local server keep separate data</a:t>
            </a:r>
            <a:endParaRPr lang="en-US" sz="1600" dirty="0"/>
          </a:p>
        </p:txBody>
      </p:sp>
      <p:sp>
        <p:nvSpPr>
          <p:cNvPr id="8" name="card-224"/>
          <p:cNvSpPr/>
          <p:nvPr/>
        </p:nvSpPr>
        <p:spPr>
          <a:xfrm>
            <a:off x="4709160" y="1188720"/>
            <a:ext cx="3977640" cy="338328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/>
        </p:spPr>
      </p:sp>
      <p:sp>
        <p:nvSpPr>
          <p:cNvPr id="9" name="circle-225"/>
          <p:cNvSpPr/>
          <p:nvPr/>
        </p:nvSpPr>
        <p:spPr>
          <a:xfrm>
            <a:off x="493776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-22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508760"/>
            <a:ext cx="274320" cy="274320"/>
          </a:xfrm>
          <a:prstGeom prst="rect">
            <a:avLst/>
          </a:prstGeom>
        </p:spPr>
      </p:pic>
      <p:sp>
        <p:nvSpPr>
          <p:cNvPr id="11" name="text-227"/>
          <p:cNvSpPr txBox="1"/>
          <p:nvPr/>
        </p:nvSpPr>
        <p:spPr>
          <a:xfrm>
            <a:off x="5669280" y="1371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Next steps</a:t>
            </a:r>
            <a:endParaRPr lang="en-US" sz="2000" dirty="0"/>
          </a:p>
        </p:txBody>
      </p:sp>
      <p:sp>
        <p:nvSpPr>
          <p:cNvPr id="12" name="text-228"/>
          <p:cNvSpPr txBox="1"/>
          <p:nvPr/>
        </p:nvSpPr>
        <p:spPr>
          <a:xfrm>
            <a:off x="4937760" y="210312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Add a Node/Express backend and database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Verify passwords and issue sessions on the server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Sync data across devices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Thank you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Questions? Ledger — Budget Planner</a:t>
            </a:r>
            <a:endParaRPr lang="en-US" sz="1800" dirty="0"/>
          </a:p>
        </p:txBody>
      </p:sp>
      <p:sp>
        <p:nvSpPr>
          <p:cNvPr id="4" name="circle-229"/>
          <p:cNvSpPr/>
          <p:nvPr/>
        </p:nvSpPr>
        <p:spPr>
          <a:xfrm>
            <a:off x="5577840" y="914400"/>
            <a:ext cx="3017520" cy="3017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circle-230"/>
          <p:cNvSpPr/>
          <p:nvPr/>
        </p:nvSpPr>
        <p:spPr>
          <a:xfrm>
            <a:off x="5212080" y="32918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-231"/>
          <p:cNvSpPr txBox="1"/>
          <p:nvPr/>
        </p:nvSpPr>
        <p:spPr>
          <a:xfrm>
            <a:off x="5577840" y="91440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₹</a:t>
            </a:r>
            <a:endParaRPr lang="en-US" sz="1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dger">
  <a:themeElements>
    <a:clrScheme name="Ledger">
      <a:dk1>
        <a:srgbClr val="1C2620"/>
      </a:dk1>
      <a:lt1>
        <a:srgbClr val="FFFFFF"/>
      </a:lt1>
      <a:dk2>
        <a:srgbClr val="16301E"/>
      </a:dk2>
      <a:lt2>
        <a:srgbClr val="EAF1EA"/>
      </a:lt2>
      <a:accent1>
        <a:srgbClr val="2F5D3A"/>
      </a:accent1>
      <a:accent2>
        <a:srgbClr val="A8763B"/>
      </a:accent2>
      <a:accent3>
        <a:srgbClr val="A0432D"/>
      </a:accent3>
      <a:accent4>
        <a:srgbClr val="3B6E8F"/>
      </a:accent4>
      <a:accent5>
        <a:srgbClr val="6B4C7A"/>
      </a:accent5>
      <a:accent6>
        <a:srgbClr val="4C7A6B"/>
      </a:accent6>
      <a:hlink>
        <a:srgbClr val="2F5D3A"/>
      </a:hlink>
      <a:folHlink>
        <a:srgbClr val="6B4C7A"/>
      </a:folHlink>
    </a:clrScheme>
    <a:fontScheme name="Ledg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Ledger — Budget Planner</dc:title>
  <dc:subject>PptxGenJS Presentation</dc:subject>
  <dc:creator>PptxGenJS</dc:creator>
  <cp:lastModifiedBy>PptxGenJS</cp:lastModifiedBy>
  <cp:revision>1</cp:revision>
  <dcterms:created xsi:type="dcterms:W3CDTF">2026-10-08T12:36:03Z</dcterms:created>
  <dcterms:modified xsi:type="dcterms:W3CDTF">2026-10-08T12:36:03Z</dcterms:modified>
</cp:coreProperties>
</file>